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00000"/>
            <a:ext cx="12192000" cy="16000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1200000"/>
            <a:ext cx="10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Transformación Digital ABA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10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CC66"/>
                </a:solidFill>
                <a:latin typeface="Calibri"/>
              </a:rPr>
              <a:t>Personas en el centro del cambio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40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Gerencia de Abastecimiento  |  Minera Los Pelambres  |  Q2-2026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45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Presentación a RRHH  |  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5551" y="48364"/>
            <a:ext cx="10389440" cy="5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7A94"/>
                </a:solidFill>
                <a:latin typeface="Calibri"/>
              </a:rPr>
              <a:t>¿Por qué estamos aquí?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551" y="580000"/>
            <a:ext cx="1038944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101010"/>
                </a:solidFill>
                <a:latin typeface="Calibri"/>
              </a:rPr>
              <a:t>El contexto del cambio en ABA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100000"/>
            <a:ext cx="10800000" cy="90000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ABA está transitando de una operación manual hacia una gestión digital madura.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" y="2150000"/>
            <a:ext cx="10800000" cy="900000"/>
          </a:xfrm>
          <a:prstGeom prst="rect">
            <a:avLst/>
          </a:prstGeom>
          <a:solidFill>
            <a:srgbClr val="1E8449"/>
          </a:solidFill>
          <a:ln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Cada iniciativa del roadmap cambia la forma de trabajar de alguien en el equipo.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3200000"/>
            <a:ext cx="10800000" cy="900000"/>
          </a:xfrm>
          <a:prstGeom prst="rect">
            <a:avLst/>
          </a:prstGeom>
          <a:solidFill>
            <a:srgbClr val="6E2F8C"/>
          </a:solidFill>
          <a:ln>
            <a:solidFill>
              <a:srgbClr val="6E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Sin habilidades y cultura digital, la tecnología se implementa pero no se adopta.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4250000"/>
            <a:ext cx="10800000" cy="9000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Hoy tenemos 26 iniciativas definidas. El equipo necesita estar preparado para ejecutarlas.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53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02060"/>
                </a:solidFill>
                <a:latin typeface="Calibri"/>
              </a:rPr>
              <a:t>"No es un proyecto tecnológico. Es un cambio en cómo trabajamos."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5551" y="48364"/>
            <a:ext cx="10389440" cy="5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7A94"/>
                </a:solidFill>
                <a:latin typeface="Calibri"/>
              </a:rPr>
              <a:t>El Roadmap como transformación, no como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551" y="580000"/>
            <a:ext cx="1038944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101010"/>
                </a:solidFill>
                <a:latin typeface="Calibri"/>
              </a:rPr>
              <a:t>3 Pilares · 7 Objetivos · 26 Iniciativas  |  Q2-2026 → Q2-2027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100000"/>
            <a:ext cx="3400000" cy="70000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Excelencia y
Mejora Continua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" y="1800000"/>
            <a:ext cx="3400000" cy="35000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02060"/>
                </a:solidFill>
                <a:latin typeface="Calibri"/>
              </a:rPr>
              <a:t>2 Objetivos · 13 Iniciativas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000" y="2200000"/>
            <a:ext cx="3300000" cy="75000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Automatizar procesos
operativos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0000" y="3000000"/>
            <a:ext cx="3300000" cy="75000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Digitalizar herramientas
de gestión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000" y="3800000"/>
            <a:ext cx="3300000" cy="75000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Capacidades
digitales del equipo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0" y="1100000"/>
            <a:ext cx="3400000" cy="700000"/>
          </a:xfrm>
          <a:prstGeom prst="rect">
            <a:avLst/>
          </a:prstGeom>
          <a:solidFill>
            <a:srgbClr val="1E8449"/>
          </a:solidFill>
          <a:ln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Optimización
de Costos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0" y="1800000"/>
            <a:ext cx="3400000" cy="35000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02060"/>
                </a:solidFill>
                <a:latin typeface="Calibri"/>
              </a:rPr>
              <a:t>2 Objetivos · 6 Iniciativas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0000" y="2200000"/>
            <a:ext cx="3300000" cy="75000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Reportabilidad
de ahorros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50000" y="3000000"/>
            <a:ext cx="3300000" cy="75000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Evaluación inteligente
de licitaciones y pagos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0" y="1100000"/>
            <a:ext cx="3400000" cy="700000"/>
          </a:xfrm>
          <a:prstGeom prst="rect">
            <a:avLst/>
          </a:prstGeom>
          <a:solidFill>
            <a:srgbClr val="6E2F8C"/>
          </a:solidFill>
          <a:ln>
            <a:solidFill>
              <a:srgbClr val="6E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Visión
del Cliente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0000" y="1800000"/>
            <a:ext cx="3400000" cy="35000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02060"/>
                </a:solidFill>
                <a:latin typeface="Calibri"/>
              </a:rPr>
              <a:t>2 Objetivos · 6 Iniciativas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0000" y="2200000"/>
            <a:ext cx="3300000" cy="75000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Gestión inteligente
de proveedores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50000" y="3000000"/>
            <a:ext cx="3300000" cy="75000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01010"/>
                </a:solidFill>
                <a:latin typeface="Calibri"/>
              </a:rPr>
              <a:t>Digitalización de
operaciones logísticas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5551" y="48364"/>
            <a:ext cx="10389440" cy="5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7A94"/>
                </a:solidFill>
                <a:latin typeface="Calibri"/>
              </a:rPr>
              <a:t>¿Qué cambia para las personas?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551" y="580000"/>
            <a:ext cx="1038944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101010"/>
                </a:solidFill>
                <a:latin typeface="Calibri"/>
              </a:rPr>
              <a:t>Del trabajo manual a la gestión digital — por 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050000"/>
            <a:ext cx="2600000" cy="56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Ingeniero
de Contratos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" y="1610000"/>
            <a:ext cx="2600000" cy="320000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02060"/>
                </a:solidFill>
                <a:latin typeface="Calibri"/>
              </a:rPr>
              <a:t>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950000"/>
            <a:ext cx="2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1010"/>
                </a:solidFill>
                <a:latin typeface="Calibri"/>
              </a:rPr>
              <a:t>Evaluaciones manuales
Excel y correos
Seguimiento en planillas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000" y="288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Calibri"/>
              </a:rP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3150000"/>
            <a:ext cx="2600000" cy="3200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CON EL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3490000"/>
            <a:ext cx="2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1010"/>
                </a:solidFill>
                <a:latin typeface="Calibri"/>
              </a:rPr>
              <a:t>IA asiste evaluaciones SSO,
Técnica y Económica
Flujos automáticos DocuSign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45000" y="1050000"/>
            <a:ext cx="2600000" cy="56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Supervisor
Logística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45000" y="1610000"/>
            <a:ext cx="2600000" cy="320000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02060"/>
                </a:solidFill>
                <a:latin typeface="Calibri"/>
              </a:rPr>
              <a:t>HOY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5000" y="1950000"/>
            <a:ext cx="2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1010"/>
                </a:solidFill>
                <a:latin typeface="Calibri"/>
              </a:rPr>
              <a:t>EDPs revisados uno a uno
Seguimiento telefónico
Reportes manuales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5000" y="288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Calibr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45000" y="3150000"/>
            <a:ext cx="2600000" cy="3200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CON EL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5000" y="3490000"/>
            <a:ext cx="2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1010"/>
                </a:solidFill>
                <a:latin typeface="Calibri"/>
              </a:rPr>
              <a:t>Revisión automática EDPs
Monitoreo GPS en tiempo real
Dashboards automáticos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0000" y="1050000"/>
            <a:ext cx="2600000" cy="56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Analista
Planificación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0000" y="1610000"/>
            <a:ext cx="2600000" cy="320000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02060"/>
                </a:solidFill>
                <a:latin typeface="Calibri"/>
              </a:rPr>
              <a:t>HOY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0000" y="1950000"/>
            <a:ext cx="2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1010"/>
                </a:solidFill>
                <a:latin typeface="Calibri"/>
              </a:rPr>
              <a:t>Power Query y planillas
Cruce manual de datos
Reportes mensuales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0000" y="288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0000" y="3150000"/>
            <a:ext cx="2600000" cy="3200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CON EL 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0000" y="3490000"/>
            <a:ext cx="2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1010"/>
                </a:solidFill>
                <a:latin typeface="Calibri"/>
              </a:rPr>
              <a:t>Sourcing Plan digital + IA
Inventario automatizado
Ahorros en tiempo real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35000" y="1050000"/>
            <a:ext cx="2600000" cy="56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Jefe de Área
/ GAB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35000" y="1610000"/>
            <a:ext cx="2600000" cy="320000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02060"/>
                </a:solidFill>
                <a:latin typeface="Calibri"/>
              </a:rPr>
              <a:t>HOY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5000" y="1950000"/>
            <a:ext cx="2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1010"/>
                </a:solidFill>
                <a:latin typeface="Calibri"/>
              </a:rPr>
              <a:t>Reportes manuales
Información desactualizada
Decisiones con lag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35000" y="288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Calibri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35000" y="3150000"/>
            <a:ext cx="2600000" cy="3200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CON EL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5000" y="3490000"/>
            <a:ext cx="2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1010"/>
                </a:solidFill>
                <a:latin typeface="Calibri"/>
              </a:rPr>
              <a:t>Dashboards en tiempo real
Alertas automáticas
Decisiones basadas en datos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5551" y="48364"/>
            <a:ext cx="10389440" cy="5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7A94"/>
                </a:solidFill>
                <a:latin typeface="Calibri"/>
              </a:rPr>
              <a:t>Habilidades necesarias por nivel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551" y="580000"/>
            <a:ext cx="1038944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101010"/>
                </a:solidFill>
                <a:latin typeface="Calibri"/>
              </a:rPr>
              <a:t>No todos necesitan saber lo mismo — 3 niveles de competencia digital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050000"/>
            <a:ext cx="3400000" cy="600000"/>
          </a:xfrm>
          <a:prstGeom prst="rect">
            <a:avLst/>
          </a:prstGeom>
          <a:solidFill>
            <a:srgbClr val="1E8449"/>
          </a:solidFill>
          <a:ln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Nivel 1 — Usuario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" y="1650000"/>
            <a:ext cx="3400000" cy="35000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02060"/>
                </a:solidFill>
                <a:latin typeface="Calibri"/>
              </a:rPr>
              <a:t>Todo el equipo ABA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210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✓  Uso de herramientas digitales
(Power BI, SharePoint, DocuSign)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266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✓  Prompting básico con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322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✓  Mentalidad de mejora continua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378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✓  Adaptación al cambio digital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0" y="1050000"/>
            <a:ext cx="3400000" cy="60000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Nivel 2 — Operador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00000" y="1650000"/>
            <a:ext cx="3400000" cy="35000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02060"/>
                </a:solidFill>
                <a:latin typeface="Calibri"/>
              </a:rPr>
              <a:t>Ingenieros de contratos · Analistas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0000" y="210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✓  Power Automate básico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000" y="266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✓  Excel avanzado y manejo de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0000" y="322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✓  Uso de agentes IA y repositorios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0000" y="378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✓  Interpretación de dashboards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00000" y="1050000"/>
            <a:ext cx="3400000" cy="600000"/>
          </a:xfrm>
          <a:prstGeom prst="rect">
            <a:avLst/>
          </a:prstGeom>
          <a:solidFill>
            <a:srgbClr val="6E2F8C"/>
          </a:solidFill>
          <a:ln>
            <a:solidFill>
              <a:srgbClr val="6E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Nivel 3 — Implementador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0" y="1650000"/>
            <a:ext cx="3400000" cy="35000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02060"/>
                </a:solidFill>
                <a:latin typeface="Calibri"/>
              </a:rPr>
              <a:t>Equipo Planificación · Referentes digitales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0000" y="210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✓  Python y automatización de procesos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0000" y="266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✓  Integración de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0000" y="322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✓  IA aplicada a procesos de negocio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0000" y="378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✓  Diseño de soluciones digitales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5551" y="48364"/>
            <a:ext cx="10389440" cy="5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7A94"/>
                </a:solidFill>
                <a:latin typeface="Calibri"/>
              </a:rPr>
              <a:t>Plan de formación asociado al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551" y="580000"/>
            <a:ext cx="1038944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101010"/>
                </a:solidFill>
                <a:latin typeface="Calibri"/>
              </a:rPr>
              <a:t>Capacitaciones vinculadas a cada ola de implementación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000" y="1050000"/>
            <a:ext cx="880000" cy="38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Quarter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0000" y="1050000"/>
            <a:ext cx="3480000" cy="38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Capacitación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0000" y="1050000"/>
            <a:ext cx="3480000" cy="38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Asociada a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0000" y="1050000"/>
            <a:ext cx="1980000" cy="38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Audiencia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200000" y="1430000"/>
            <a:ext cx="880000" cy="8800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Q2-26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0000" y="1430000"/>
            <a:ext cx="34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IA aplicada al trabajo y Prompting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0000" y="1430000"/>
            <a:ext cx="34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Repositorio GAF, Quick Wins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0000" y="1430000"/>
            <a:ext cx="19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Todo ABA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0000" y="1880000"/>
            <a:ext cx="34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Power Automate básico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0000" y="1880000"/>
            <a:ext cx="34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Liberaciones, Flujo Transportes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0000" y="1880000"/>
            <a:ext cx="19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Contratos · Logística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0000" y="2330000"/>
            <a:ext cx="880000" cy="88000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Q3-26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00000" y="2330000"/>
            <a:ext cx="34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Power BI intermedio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00000" y="2330000"/>
            <a:ext cx="34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Reportabilidad PPFM, Dashboards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0000" y="2330000"/>
            <a:ext cx="19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Planificación · Proveedores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00000" y="2780000"/>
            <a:ext cx="34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Gestión documental digital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00000" y="2780000"/>
            <a:ext cx="34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Set documental IA, DocuSign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0000" y="2780000"/>
            <a:ext cx="19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Contratos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0000" y="3230000"/>
            <a:ext cx="880000" cy="88000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Q4-26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0000" y="3230000"/>
            <a:ext cx="34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IA aplicada a evaluación contratos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00000" y="3230000"/>
            <a:ext cx="34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Ev. SSO, Técnica, Económica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00000" y="3230000"/>
            <a:ext cx="19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Contratos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0000" y="3680000"/>
            <a:ext cx="34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Automatización con Python básico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00000" y="3680000"/>
            <a:ext cx="34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Inventario de Cierre, EDPs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0000" y="3680000"/>
            <a:ext cx="19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Planificación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0000" y="4130000"/>
            <a:ext cx="880000" cy="880000"/>
          </a:xfrm>
          <a:prstGeom prst="rect">
            <a:avLst/>
          </a:prstGeom>
          <a:solidFill>
            <a:srgbClr val="6E2F8C"/>
          </a:solidFill>
          <a:ln>
            <a:solidFill>
              <a:srgbClr val="6E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Q1-27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00000" y="4130000"/>
            <a:ext cx="34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Integración de sistemas y APIs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00000" y="4130000"/>
            <a:ext cx="34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DocuSign, Inteligencia Proveedores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0000" y="4130000"/>
            <a:ext cx="19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Referentes digitales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00000" y="4580000"/>
            <a:ext cx="34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Cultura digital y gestión del cambio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00000" y="4580000"/>
            <a:ext cx="34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Todo el roadmap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00000" y="4580000"/>
            <a:ext cx="1980000" cy="430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01010"/>
                </a:solidFill>
                <a:latin typeface="Calibri"/>
              </a:rPr>
              <a:t>Todo ABA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5551" y="48364"/>
            <a:ext cx="10389440" cy="5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7A94"/>
                </a:solidFill>
                <a:latin typeface="Calibri"/>
              </a:rPr>
              <a:t>Gestión del Cambio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551" y="580000"/>
            <a:ext cx="1038944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101010"/>
                </a:solidFill>
                <a:latin typeface="Calibri"/>
              </a:rPr>
              <a:t>4 palancas para asegurar la adopción del roadmap digital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050000"/>
            <a:ext cx="2600000" cy="60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Patrocinio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1700000"/>
            <a:ext cx="2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GAB como sponsor visible y activo del cambio. Presencia en hitos clave del roadmap y comunicación explícita del compromiso con la transformación digital.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0000" y="1050000"/>
            <a:ext cx="2600000" cy="60000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Comunicación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80000" y="1700000"/>
            <a:ext cx="2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Plan de comunicación trimestral al equipo ABA: avances del roadmap, casos de éxito, impacto medido en horas liberadas y calidad del trabajo.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60000" y="1050000"/>
            <a:ext cx="2600000" cy="600000"/>
          </a:xfrm>
          <a:prstGeom prst="rect">
            <a:avLst/>
          </a:prstGeom>
          <a:solidFill>
            <a:srgbClr val="1E8449"/>
          </a:solidFill>
          <a:ln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Formación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0000" y="1700000"/>
            <a:ext cx="2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Capacitaciones vinculadas a cada ola de implementación, con foco en uso práctico de las herramientas. Aprendizaje en el contexto del trabajo real.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0000" y="1050000"/>
            <a:ext cx="2600000" cy="600000"/>
          </a:xfrm>
          <a:prstGeom prst="rect">
            <a:avLst/>
          </a:prstGeom>
          <a:solidFill>
            <a:srgbClr val="6E2F8C"/>
          </a:solidFill>
          <a:ln>
            <a:solidFill>
              <a:srgbClr val="6E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Medición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0000" y="1700000"/>
            <a:ext cx="2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KPIs de adopción: % usuarios activos por herramienta, horas liberadas vs. proceso manual, NPS interno del equipo ABA y nivel de competencia digital.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00" y="56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FF6600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00" y="5600000"/>
            <a:ext cx="10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002060"/>
                </a:solidFill>
                <a:latin typeface="Calibri"/>
              </a:rPr>
              <a:t>El cambio cultural es el resultado de ejecutar bien estas 4 palancas en paralelo.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5551" y="48364"/>
            <a:ext cx="10389440" cy="5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7A94"/>
                </a:solidFill>
                <a:latin typeface="Calibri"/>
              </a:rPr>
              <a:t>Lo que pedimos a RRHH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551" y="580000"/>
            <a:ext cx="1038944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101010"/>
                </a:solidFill>
                <a:latin typeface="Calibri"/>
              </a:rPr>
              <a:t>Cuatro compromisos concretos para hacer posible la transformación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100000"/>
            <a:ext cx="1000000" cy="75000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50000" y="1100000"/>
            <a:ext cx="9800000" cy="35000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Financiar plan de capacitaciones Q2-26 → Q1-27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1460000"/>
            <a:ext cx="9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Cubrir los costos de formación en IA aplicada, Power Automate, Power BI y Python para el equipo ABA según el plan definido.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150000"/>
            <a:ext cx="1000000" cy="750000"/>
          </a:xfrm>
          <a:prstGeom prst="rect">
            <a:avLst/>
          </a:prstGeom>
          <a:solidFill>
            <a:srgbClr val="1E8449"/>
          </a:solidFill>
          <a:ln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450000" y="2150000"/>
            <a:ext cx="9800000" cy="350000"/>
          </a:xfrm>
          <a:prstGeom prst="rect">
            <a:avLst/>
          </a:prstGeom>
          <a:solidFill>
            <a:srgbClr val="1E8449"/>
          </a:solidFill>
          <a:ln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Apoyar definición de perfiles digitales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0000" y="2510000"/>
            <a:ext cx="9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Incorporar competencias digitales en los perfiles de cargo del área ABA para nuevas contrataciones y movimientos internos.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3200000"/>
            <a:ext cx="1000000" cy="750000"/>
          </a:xfrm>
          <a:prstGeom prst="rect">
            <a:avLst/>
          </a:prstGeom>
          <a:solidFill>
            <a:srgbClr val="6E2F8C"/>
          </a:solidFill>
          <a:ln>
            <a:solidFill>
              <a:srgbClr val="6E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50000" y="3200000"/>
            <a:ext cx="9800000" cy="350000"/>
          </a:xfrm>
          <a:prstGeom prst="rect">
            <a:avLst/>
          </a:prstGeom>
          <a:solidFill>
            <a:srgbClr val="6E2F8C"/>
          </a:solidFill>
          <a:ln>
            <a:solidFill>
              <a:srgbClr val="6E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Co-patrocinar el cambio cultural con GAB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0000" y="3560000"/>
            <a:ext cx="9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RRHH como socio estratégico en la gestión del cambio, apoyando la comunicación interna y el seguimiento de la adopción.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000" y="4250000"/>
            <a:ext cx="1000000" cy="7500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50000" y="4250000"/>
            <a:ext cx="9800000" cy="3500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Incluir competencias digitales en evaluaciones de desempeño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0000" y="4610000"/>
            <a:ext cx="9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Incorporar indicadores de competencia digital y adopción de nuevas herramientas en las evaluaciones anuales del equipo ABA.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5551" y="48364"/>
            <a:ext cx="10389440" cy="5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7A94"/>
                </a:solidFill>
                <a:latin typeface="Calibri"/>
              </a:rP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551" y="580000"/>
            <a:ext cx="1038944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101010"/>
                </a:solidFill>
                <a:latin typeface="Calibri"/>
              </a:rPr>
              <a:t>Acciones concretas para arrancar en Q2-26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100000"/>
            <a:ext cx="2600000" cy="50000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Mayo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00" y="1700000"/>
            <a:ext cx="244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▸  Validar plan de formación con RRHH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00" y="2260000"/>
            <a:ext cx="244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▸  Definir presupuesto de capacitaciones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00" y="2820000"/>
            <a:ext cx="244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▸  Identificar proveedores de capacitación 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0000" y="1100000"/>
            <a:ext cx="2600000" cy="500000"/>
          </a:xfrm>
          <a:prstGeom prst="rect">
            <a:avLst/>
          </a:prstGeom>
          <a:solidFill>
            <a:srgbClr val="1E8449"/>
          </a:solidFill>
          <a:ln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0000" y="1700000"/>
            <a:ext cx="244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▸  Primer taller de IA aplicada — todo el equipo ABA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0000" y="2260000"/>
            <a:ext cx="244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▸  Lanzamiento oficial del Repositorio GAF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0000" y="2820000"/>
            <a:ext cx="244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▸  Quick Wins Q2-26 en operación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60000" y="1100000"/>
            <a:ext cx="2600000" cy="500000"/>
          </a:xfrm>
          <a:prstGeom prst="rect">
            <a:avLst/>
          </a:prstGeom>
          <a:solidFill>
            <a:srgbClr val="6E2F8C"/>
          </a:solidFill>
          <a:ln>
            <a:solidFill>
              <a:srgbClr val="6E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Q3-2026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0" y="1700000"/>
            <a:ext cx="244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▸  Capacitación Power BI y gestión documental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0000" y="2260000"/>
            <a:ext cx="244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▸  Revisión de perfiles de cargo con RRHH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000" y="2820000"/>
            <a:ext cx="244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▸  Medición primera ola: horas liberadas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0000" y="1100000"/>
            <a:ext cx="2600000" cy="5000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Q4-2026
en adelante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0000" y="1700000"/>
            <a:ext cx="244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▸  Capacitación IA aplicada a contratos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0000" y="2260000"/>
            <a:ext cx="244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▸  Evaluación de competencias digitales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0000" y="2820000"/>
            <a:ext cx="244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▸  Ajuste del plan según resultados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000" y="5400000"/>
            <a:ext cx="10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002060"/>
                </a:solidFill>
                <a:latin typeface="Calibri"/>
              </a:rPr>
              <a:t>"La transformación digital de ABA empieza hoy — con las personas correctas, las habilidades correctas y el apoyo correcto."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